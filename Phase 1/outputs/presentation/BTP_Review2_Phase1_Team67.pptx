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2 covers Phase 1: a full, verified reproduction of the base paper's pipeline on our own study area. Phase 2 (our novel contributions) starts after this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panel will ask why we did not use U-Net. The answer is a deliberate trade-off: no existing labelled data, four weeks, and LightGBM is the method of our Kerala reference papers. Everything else follows the base paper's chain: satellite -&gt; Otsu flood inventory -&gt; ML model -&gt; map -&gt; accuracy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Green = done in Phase 1 (12 blocks), amber = partly done (4), grey dashed = Phase 2 (8). The whole data -&gt; inventory -&gt; features -&gt; model -&gt; current-susceptibility chain works end to end. Everything development-related (Sentinel-2 land cover, UICA/ΔUICA, PU-learning, post-development prediction) is Phase 2 — that is our novelty.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AOI was chosen to contain both the 2018 flood (so the inventory is not empty) and fast urban growth (for Phase 2). All data are open; Sentinel-1, FABDEM and CHIRPS come through Google Earth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Top left: the two histograms are clearly bimodal and the Otsu threshold falls in the valley, so the threshold is sound. Bottom: flooded pixels (orange) cluster on the Periyar floodplain around Paravur/Puthenvelikkara; Kochi city stays clean. Bottom right: our flood against the official NDEM outline.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our Ground Truth Index analogue. 58.4 % is lower than the base paper's 84 %, for two measurable reasons: our only scene is 4-6 days after the peak (residual water), and most disagreement sits on the river/backwater fringe. Away from that fringe it rises to 74 %.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the reliable part of the inventory becomes training data: flood pixels confirmed by NDEM, and non-flood pixels far from anything that flooded at the peak. None of the features comes from the radar image, so the model cannot cheat by reading the label.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plan warns that ~0.999 AUC usually means leakage, so we investigated. The random split tests on neighbours of training pixels. Holding out whole 10 km regions gives 88.5 % accuracy, which is our honest number and comparable to the base paper's 93.7 %. AUC stays about 0.98, so the model ranks terrain 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Elevation is the strongest factor, as expected for river flooding on a coastal floodplain. The base paper's Table 4 retrains the model with fewer inputs; our version of that table shows terrain matters most for new regions and rainfall does not really transfer. The missing imperviousness input is exactly our Phase 2 contribution.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main Phase 1 deliverable. The key evidence is the 2019 check: the model was trained on 2018 only, yet 84 % of the official 2019 flood falls in our top two classes, which cover 40 % of the land.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Rainfall here barely varies (about 10 % across 60 coarse cells), so the model uses it to recognise where the 2018 flood was, not how much it rained. Without it the map is physically cleaner at a small cost on 2019. We show both maps.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not weaknesses to hide: each one is measured, and each maps directly onto a Phase 2 component from our Review 1 novelty slide. Full detail is in docs/limitations.md.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One-line summary: the full base-paper pipeline now works on our study area, its numbers are verified honestly, and every gap maps onto a planned Phase 2 contribution.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slide hidden until asked. The longer answers are in docs/review2_materials.md.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 paper [1]; data sources [2]-[4], [9]; methods [5]-[8]. The Review 1 literature references still apply.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iit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164592"/>
            <a:ext cx="1964094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0" y="6400800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95959"/>
                </a:solidFill>
                <a:latin typeface="Calibri"/>
              </a:defRPr>
            </a:pPr>
            <a:r>
              <a:t>Indian Institute of Information Technology Kottayam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3444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>
                <a:solidFill>
                  <a:srgbClr val="1D1D1D"/>
                </a:solidFill>
                <a:latin typeface="Calibri"/>
              </a:defRPr>
            </a:pPr>
            <a:r>
              <a:t>Development-Aware Flood Susceptibility Mapping Using Multi-Temporal Satellite Data</a:t>
            </a:r>
          </a:p>
          <a:p>
            <a:pPr algn="ctr">
              <a:spcBef>
                <a:spcPts val="1400"/>
              </a:spcBef>
              <a:defRPr sz="2200">
                <a:solidFill>
                  <a:srgbClr val="1F5F99"/>
                </a:solidFill>
                <a:latin typeface="Calibri"/>
              </a:defRPr>
            </a:pPr>
            <a:r>
              <a:t>Review 2 — Phase 1: reproducing the base paper on the Lower Periyar basin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3703320"/>
            <a:ext cx="5029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0">
                <a:solidFill>
                  <a:srgbClr val="1D1D1D"/>
                </a:solidFill>
                <a:latin typeface="Calibri"/>
              </a:defRPr>
            </a:pPr>
            <a:r>
              <a:t>BY</a:t>
            </a:r>
          </a:p>
          <a:p>
            <a:pPr algn="ctr">
              <a:defRPr sz="1400" i="1">
                <a:solidFill>
                  <a:srgbClr val="1D1D1D"/>
                </a:solidFill>
                <a:latin typeface="Calibri"/>
              </a:defRPr>
            </a:pPr>
            <a:r>
              <a:t>2023BCD0005 - ALBIN JOHN</a:t>
            </a:r>
          </a:p>
          <a:p>
            <a:pPr algn="ctr">
              <a:defRPr sz="1400" i="1">
                <a:solidFill>
                  <a:srgbClr val="1D1D1D"/>
                </a:solidFill>
                <a:latin typeface="Calibri"/>
              </a:defRPr>
            </a:pPr>
            <a:r>
              <a:t>2023BCD0056 - NIKETH B NATH</a:t>
            </a:r>
          </a:p>
          <a:p>
            <a:pPr algn="ctr">
              <a:defRPr sz="1400" i="1">
                <a:solidFill>
                  <a:srgbClr val="1D1D1D"/>
                </a:solidFill>
                <a:latin typeface="Calibri"/>
              </a:defRPr>
            </a:pPr>
            <a:r>
              <a:t>2023BCD0014 - JATIN NATH</a:t>
            </a:r>
          </a:p>
          <a:p>
            <a:pPr algn="ctr">
              <a:defRPr sz="1400" i="1">
                <a:solidFill>
                  <a:srgbClr val="1D1D1D"/>
                </a:solidFill>
                <a:latin typeface="Calibri"/>
              </a:defRPr>
            </a:pPr>
            <a:r>
              <a:t>2023BCD0030 - R RANJITH KUMAR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4892040"/>
            <a:ext cx="2926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0">
                <a:solidFill>
                  <a:srgbClr val="1D1D1D"/>
                </a:solidFill>
                <a:latin typeface="Calibri"/>
              </a:defRPr>
            </a:pPr>
            <a:r>
              <a:t>Guided By,</a:t>
            </a:r>
          </a:p>
          <a:p>
            <a:pPr algn="ctr">
              <a:defRPr sz="1800" i="1">
                <a:solidFill>
                  <a:srgbClr val="1D1D1D"/>
                </a:solidFill>
                <a:latin typeface="Calibri"/>
              </a:defRPr>
            </a:pPr>
            <a:r>
              <a:t>Dr. Rosebell Paul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iit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164592"/>
            <a:ext cx="1964094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9326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1D1D1D"/>
                </a:solidFill>
                <a:latin typeface="Calibri"/>
              </a:defRPr>
            </a:pPr>
            <a:r>
              <a:t>From Review 1 to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9509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95959"/>
                </a:solidFill>
                <a:latin typeface="Calibri"/>
              </a:defRPr>
            </a:pPr>
            <a:r>
              <a:t>Phase 1 reproduces the base paper's logic end to end on the Periyar basin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6400800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95959"/>
                </a:solidFill>
                <a:latin typeface="Calibri"/>
              </a:defRPr>
            </a:pPr>
            <a:r>
              <a:t>Indian Institute of Information Technology Kottayam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38251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95959"/>
                </a:solidFill>
                <a:latin typeface="Calibri"/>
              </a:defRPr>
            </a:pPr>
            <a:r>
              <a:t>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9164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297680"/>
                <a:gridCol w="475488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Stage</a:t>
                      </a:r>
                    </a:p>
                  </a:txBody>
                  <a:tcPr anchor="ctr" marL="73152" marR="73152">
                    <a:solidFill>
                      <a:srgbClr val="DAE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Base paper (Mohamadiazar et al., 2024)</a:t>
                      </a:r>
                    </a:p>
                  </a:txBody>
                  <a:tcPr anchor="ctr" marL="73152" marR="73152">
                    <a:solidFill>
                      <a:srgbClr val="DAE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Our Phase 1 reproduction</a:t>
                      </a:r>
                    </a:p>
                  </a:txBody>
                  <a:tcPr anchor="ctr" marL="73152" marR="73152">
                    <a:solidFill>
                      <a:srgbClr val="DAE3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Study area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Miami-Dade, Florida (pluvial)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Lower Periyar &amp; Aluva–Kochi, Kerala (fluvial)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Satellite data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226 Sentinel-1 images, 2014–2023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Sentinel-1 VV: 2018, 2019, 2021 flood + dry pairs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Flood inventory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Otsu threshold on VV (SNAP)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Otsu on VV + change detection (Lee filter, GEE)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Inventory check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GTI 84.05 % vs 116 flood reports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GTI 58.4 % vs official NRSC/ISRO NDEM maps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U-Net CNN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LightGBM (tabular, pixel-based)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Output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Flood prediction maps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5-class susceptibility map + 2019 validation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07492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D1D1D"/>
                </a:solidFill>
                <a:latin typeface="Calibri"/>
              </a:defRPr>
            </a:pPr>
            <a:r>
              <a:t>•  Why LightGBM, not U-Net (Step 0): no labelled image set existed for Kerala; building one and tuning a CNN would have used the whole timeline. LightGBM gave a complete, checkable pipeline and matches our Kerala reference papers. U-Net is revisited once Phase 2 has a multi-event inventory.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iit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164592"/>
            <a:ext cx="1964094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9326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1D1D1D"/>
                </a:solidFill>
                <a:latin typeface="Calibri"/>
              </a:defRPr>
            </a:pPr>
            <a:r>
              <a:t>System Architecture —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9509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95959"/>
                </a:solidFill>
                <a:latin typeface="Calibri"/>
              </a:defRPr>
            </a:pPr>
            <a:r>
              <a:t>Review 1 architecture, marked by what Phase 1 has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6400800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95959"/>
                </a:solidFill>
                <a:latin typeface="Calibri"/>
              </a:defRPr>
            </a:pPr>
            <a:r>
              <a:t>Indian Institute of Information Technology Kottayam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38251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95959"/>
                </a:solidFill>
                <a:latin typeface="Calibri"/>
              </a:defRPr>
            </a:pPr>
            <a:r>
              <a:t>3</a:t>
            </a:r>
          </a:p>
        </p:txBody>
      </p:sp>
      <p:pic>
        <p:nvPicPr>
          <p:cNvPr id="7" name="Picture 6" descr="step12_architecture_stat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99" y="1463040"/>
            <a:ext cx="10129322" cy="48463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iit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164592"/>
            <a:ext cx="1964094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9326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1D1D1D"/>
                </a:solidFill>
                <a:latin typeface="Calibri"/>
              </a:defRPr>
            </a:pPr>
            <a:r>
              <a:t>Study Area &amp;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400800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95959"/>
                </a:solidFill>
                <a:latin typeface="Calibri"/>
              </a:defRPr>
            </a:pPr>
            <a:r>
              <a:t>Indian Institute of Information Technology Kottayam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38251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95959"/>
                </a:solidFill>
                <a:latin typeface="Calibri"/>
              </a:defRPr>
            </a:pPr>
            <a:r>
              <a:t>4</a:t>
            </a:r>
          </a:p>
        </p:txBody>
      </p:sp>
      <p:pic>
        <p:nvPicPr>
          <p:cNvPr id="6" name="Picture 5" descr="step12_study_ar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45664"/>
            <a:ext cx="5669279" cy="5006752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309360" y="1417320"/>
          <a:ext cx="5486400" cy="29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1965960"/>
                <a:gridCol w="1188720"/>
              </a:tblGrid>
              <a:tr h="42062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Dataset</a:t>
                      </a:r>
                    </a:p>
                  </a:txBody>
                  <a:tcPr anchor="ctr" marL="73152" marR="73152">
                    <a:solidFill>
                      <a:srgbClr val="DAE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 anchor="ctr" marL="73152" marR="73152">
                    <a:solidFill>
                      <a:srgbClr val="DAE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Resolution</a:t>
                      </a:r>
                    </a:p>
                  </a:txBody>
                  <a:tcPr anchor="ctr" marL="73152" marR="73152">
                    <a:solidFill>
                      <a:srgbClr val="DAE3E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Sentinel-1 VV (flood + dry)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Copernicus / GEE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~10–20 m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FABDEM elevation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Univ. Bristol / GEE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30 m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CHIRPS rainfall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UCSB-CHG / GEE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5.5 km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Rivers (HydroRIVERS)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HydroSHEDS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15″ network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Roads (OSM drive)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OpenStreetMap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vector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Flood reference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NRSC/ISRO NDEM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polygons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09360" y="4526280"/>
            <a:ext cx="5486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D1D1D"/>
                </a:solidFill>
                <a:latin typeface="Calibri"/>
              </a:defRPr>
            </a:pPr>
            <a:r>
              <a:t>•  AOI 76.15–76.55°E, 9.9–10.25°N (≈1,700 km²), UTM 43N</a:t>
            </a:r>
          </a:p>
          <a:p>
            <a:pPr>
              <a:spcAft>
                <a:spcPts val="600"/>
              </a:spcAft>
              <a:defRPr sz="1400" b="0">
                <a:solidFill>
                  <a:srgbClr val="1D1D1D"/>
                </a:solidFill>
                <a:latin typeface="Calibri"/>
              </a:defRPr>
            </a:pPr>
            <a:r>
              <a:t>•  Contains the Periyar floodplain hit hardest in Aug 2018 and the urbanising Aluva–Kochi corridor</a:t>
            </a:r>
          </a:p>
          <a:p>
            <a:pPr>
              <a:spcAft>
                <a:spcPts val="600"/>
              </a:spcAft>
              <a:defRPr sz="1400" b="0">
                <a:solidFill>
                  <a:srgbClr val="1D1D1D"/>
                </a:solidFill>
                <a:latin typeface="Calibri"/>
              </a:defRPr>
            </a:pPr>
            <a:r>
              <a:t>•  Soil (NBSS&amp;LUP) not downloadable — same data gap as the base paper's HSG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iit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164592"/>
            <a:ext cx="1964094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9326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1D1D1D"/>
                </a:solidFill>
                <a:latin typeface="Calibri"/>
              </a:defRPr>
            </a:pPr>
            <a:r>
              <a:t>Flood Inventory — Sentinel-1 + Otsu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9509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95959"/>
                </a:solidFill>
                <a:latin typeface="Calibri"/>
              </a:defRPr>
            </a:pPr>
            <a:r>
              <a:t>21 Aug 2018 flood scene vs 30 Mar 2018 dry scene, same orbit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6400800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95959"/>
                </a:solidFill>
                <a:latin typeface="Calibri"/>
              </a:defRPr>
            </a:pPr>
            <a:r>
              <a:t>Indian Institute of Information Technology Kottayam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38251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95959"/>
                </a:solidFill>
                <a:latin typeface="Calibri"/>
              </a:defRPr>
            </a:pPr>
            <a:r>
              <a:t>5</a:t>
            </a:r>
          </a:p>
        </p:txBody>
      </p:sp>
      <p:pic>
        <p:nvPicPr>
          <p:cNvPr id="7" name="Picture 6" descr="step5_flood_inventory_2018_20180821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471" y="1463040"/>
            <a:ext cx="6656097" cy="4892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92440" y="1554480"/>
            <a:ext cx="3840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D1D1D"/>
                </a:solidFill>
                <a:latin typeface="Calibri"/>
              </a:defRPr>
            </a:pPr>
            <a:r>
              <a:t>•  Base-paper method: backscatter to dB (Eq. 1), Otsu threshold on VV</a:t>
            </a:r>
          </a:p>
          <a:p>
            <a:pPr>
              <a:spcAft>
                <a:spcPts val="300"/>
              </a:spcAft>
              <a:defRPr sz="1200" b="0">
                <a:solidFill>
                  <a:srgbClr val="595959"/>
                </a:solidFill>
                <a:latin typeface="Calibri"/>
              </a:defRPr>
            </a:pPr>
            <a:r>
              <a:t>–  Otsu threshold -13.66 dB — sits in the valley between water and land peaks</a:t>
            </a:r>
          </a:p>
          <a:p>
            <a:pPr>
              <a:spcAft>
                <a:spcPts val="600"/>
              </a:spcAft>
              <a:defRPr sz="1400" b="0">
                <a:solidFill>
                  <a:srgbClr val="1D1D1D"/>
                </a:solidFill>
                <a:latin typeface="Calibri"/>
              </a:defRPr>
            </a:pPr>
            <a:r>
              <a:t>•  Flood = water on flood date AND NOT water in dry scene</a:t>
            </a:r>
          </a:p>
          <a:p>
            <a:pPr>
              <a:spcAft>
                <a:spcPts val="300"/>
              </a:spcAft>
              <a:defRPr sz="1200" b="0">
                <a:solidFill>
                  <a:srgbClr val="595959"/>
                </a:solidFill>
                <a:latin typeface="Calibri"/>
              </a:defRPr>
            </a:pPr>
            <a:r>
              <a:t>–  steep slopes (&gt; 5°) and specks (&lt; 5 px) removed</a:t>
            </a:r>
          </a:p>
          <a:p>
            <a:pPr>
              <a:spcAft>
                <a:spcPts val="600"/>
              </a:spcAft>
              <a:defRPr sz="1400" b="0">
                <a:solidFill>
                  <a:srgbClr val="1D1D1D"/>
                </a:solidFill>
                <a:latin typeface="Calibri"/>
              </a:defRPr>
            </a:pPr>
            <a:r>
              <a:t>•  2018 flood: 23.5 km² (1.4 % of AOI), on the northern Periyar floodplain</a:t>
            </a:r>
          </a:p>
          <a:p>
            <a:pPr>
              <a:spcAft>
                <a:spcPts val="300"/>
              </a:spcAft>
              <a:defRPr sz="1200" b="0">
                <a:solidFill>
                  <a:srgbClr val="595959"/>
                </a:solidFill>
                <a:latin typeface="Calibri"/>
              </a:defRPr>
            </a:pPr>
            <a:r>
              <a:t>–  2019: 28.9 km² · 2021: 8.9 km² (too small / noisy to use)</a:t>
            </a:r>
          </a:p>
          <a:p>
            <a:pPr>
              <a:spcAft>
                <a:spcPts val="600"/>
              </a:spcAft>
              <a:defRPr sz="1400" b="0">
                <a:solidFill>
                  <a:srgbClr val="1D1D1D"/>
                </a:solidFill>
                <a:latin typeface="Calibri"/>
              </a:defRPr>
            </a:pPr>
            <a:r>
              <a:t>•  Known blind spots: water among buildings, airport runway, scene is 4–6 days after the peak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iit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164592"/>
            <a:ext cx="1964094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9326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1D1D1D"/>
                </a:solidFill>
                <a:latin typeface="Calibri"/>
              </a:defRPr>
            </a:pPr>
            <a:r>
              <a:t>Is the Flood Inventory Right?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9509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95959"/>
                </a:solidFill>
                <a:latin typeface="Calibri"/>
              </a:defRPr>
            </a:pPr>
            <a:r>
              <a:t>Independent check against official NRSC/ISRO NDEM flood maps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6400800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95959"/>
                </a:solidFill>
                <a:latin typeface="Calibri"/>
              </a:defRPr>
            </a:pPr>
            <a:r>
              <a:t>Indian Institute of Information Technology Kottayam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38251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95959"/>
                </a:solidFill>
                <a:latin typeface="Calibri"/>
              </a:defRPr>
            </a:pPr>
            <a:r>
              <a:t>6</a:t>
            </a:r>
          </a:p>
        </p:txBody>
      </p:sp>
      <p:pic>
        <p:nvPicPr>
          <p:cNvPr id="7" name="Picture 6" descr="step6_crosscheck_gti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780451"/>
            <a:ext cx="7223760" cy="347997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80960" y="160020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D1D1D"/>
                </a:solidFill>
                <a:latin typeface="Calibri"/>
              </a:defRPr>
            </a:pPr>
            <a:r>
              <a:t>•  58.4 % of our 2018 flood pixels confirmed by NDEM (within 40 m)</a:t>
            </a:r>
          </a:p>
          <a:p>
            <a:pPr>
              <a:spcAft>
                <a:spcPts val="300"/>
              </a:spcAft>
              <a:defRPr sz="1200" b="0">
                <a:solidFill>
                  <a:srgbClr val="595959"/>
                </a:solidFill>
                <a:latin typeface="Calibri"/>
              </a:defRPr>
            </a:pPr>
            <a:r>
              <a:t>–  strict per-pixel 36.7 % · a random map would score 13.3 % → 4.4× better than chance</a:t>
            </a:r>
          </a:p>
          <a:p>
            <a:pPr>
              <a:spcAft>
                <a:spcPts val="300"/>
              </a:spcAft>
              <a:defRPr sz="1200" b="0">
                <a:solidFill>
                  <a:srgbClr val="595959"/>
                </a:solidFill>
                <a:latin typeface="Calibri"/>
              </a:defRPr>
            </a:pPr>
            <a:r>
              <a:t>–  away from river/backwater edges: 74.2 %</a:t>
            </a:r>
          </a:p>
          <a:p>
            <a:pPr>
              <a:spcAft>
                <a:spcPts val="600"/>
              </a:spcAft>
              <a:defRPr sz="1400" b="0">
                <a:solidFill>
                  <a:srgbClr val="1D1D1D"/>
                </a:solidFill>
                <a:latin typeface="Calibri"/>
              </a:defRPr>
            </a:pPr>
            <a:r>
              <a:t>•  Base paper GTI: 84.05 % (point reports, image taken during the flood)</a:t>
            </a:r>
          </a:p>
          <a:p>
            <a:pPr>
              <a:spcAft>
                <a:spcPts val="600"/>
              </a:spcAft>
              <a:defRPr sz="1400" b="0">
                <a:solidFill>
                  <a:srgbClr val="1D1D1D"/>
                </a:solidFill>
                <a:latin typeface="Calibri"/>
              </a:defRPr>
            </a:pPr>
            <a:r>
              <a:t>•  Copernicus EMS: no activation · DFO: no 2018 event · Sentinel-2: 82 % cloud</a:t>
            </a:r>
          </a:p>
          <a:p>
            <a:pPr>
              <a:spcAft>
                <a:spcPts val="600"/>
              </a:spcAft>
              <a:defRPr sz="1400" b="0">
                <a:solidFill>
                  <a:srgbClr val="1D1D1D"/>
                </a:solidFill>
                <a:latin typeface="Calibri"/>
              </a:defRPr>
            </a:pPr>
            <a:r>
              <a:t>•  2021 fails the check (15 %) → not used as labels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iit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164592"/>
            <a:ext cx="1964094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9326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1D1D1D"/>
                </a:solidFill>
                <a:latin typeface="Calibri"/>
              </a:defRPr>
            </a:pPr>
            <a:r>
              <a:t>Features &amp; Training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9509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95959"/>
                </a:solidFill>
                <a:latin typeface="Calibri"/>
              </a:defRPr>
            </a:pPr>
            <a:r>
              <a:t>11 features on the 30 m FABDEM grid · 30,568 balanced samples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6400800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95959"/>
                </a:solidFill>
                <a:latin typeface="Calibri"/>
              </a:defRPr>
            </a:pPr>
            <a:r>
              <a:t>Indian Institute of Information Technology Kottayam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38251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95959"/>
                </a:solidFill>
                <a:latin typeface="Calibri"/>
              </a:defRPr>
            </a:pPr>
            <a:r>
              <a:t>7</a:t>
            </a:r>
          </a:p>
        </p:txBody>
      </p:sp>
      <p:pic>
        <p:nvPicPr>
          <p:cNvPr id="7" name="Picture 6" descr="step7_feature_stack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540465"/>
            <a:ext cx="7223760" cy="473718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80960" y="1600200"/>
            <a:ext cx="4206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D1D1D"/>
                </a:solidFill>
                <a:latin typeface="Calibri"/>
              </a:defRPr>
            </a:pPr>
            <a:r>
              <a:t>•  Terrain: elevation, slope, aspect, plan &amp; profile curvature</a:t>
            </a:r>
          </a:p>
          <a:p>
            <a:pPr>
              <a:spcAft>
                <a:spcPts val="600"/>
              </a:spcAft>
              <a:defRPr sz="1400" b="0">
                <a:solidFill>
                  <a:srgbClr val="1D1D1D"/>
                </a:solidFill>
                <a:latin typeface="Calibri"/>
              </a:defRPr>
            </a:pPr>
            <a:r>
              <a:t>•  Hydrology: TWI, distance to river / major river, drainage density</a:t>
            </a:r>
          </a:p>
          <a:p>
            <a:pPr>
              <a:spcAft>
                <a:spcPts val="600"/>
              </a:spcAft>
              <a:defRPr sz="1400" b="0">
                <a:solidFill>
                  <a:srgbClr val="1D1D1D"/>
                </a:solidFill>
                <a:latin typeface="Calibri"/>
              </a:defRPr>
            </a:pPr>
            <a:r>
              <a:t>•  Distance to road, mean annual rainfall</a:t>
            </a:r>
          </a:p>
          <a:p>
            <a:pPr>
              <a:spcAft>
                <a:spcPts val="300"/>
              </a:spcAft>
              <a:defRPr sz="1200" b="0">
                <a:solidFill>
                  <a:srgbClr val="595959"/>
                </a:solidFill>
                <a:latin typeface="Calibri"/>
              </a:defRPr>
            </a:pPr>
            <a:r>
              <a:t>–  all layers on one grid, no gaps, 11 self-tests passed; max VIF 2.4</a:t>
            </a:r>
          </a:p>
          <a:p>
            <a:pPr>
              <a:spcAft>
                <a:spcPts val="600"/>
              </a:spcAft>
              <a:defRPr sz="1400" b="0">
                <a:solidFill>
                  <a:srgbClr val="1D1D1D"/>
                </a:solidFill>
                <a:latin typeface="Calibri"/>
              </a:defRPr>
            </a:pPr>
            <a:r>
              <a:t>•  15,284 flood + 15,284 non-flood samples (2018)</a:t>
            </a:r>
          </a:p>
          <a:p>
            <a:pPr>
              <a:spcAft>
                <a:spcPts val="300"/>
              </a:spcAft>
              <a:defRPr sz="1200" b="0">
                <a:solidFill>
                  <a:srgbClr val="595959"/>
                </a:solidFill>
                <a:latin typeface="Calibri"/>
              </a:defRPr>
            </a:pPr>
            <a:r>
              <a:t>–  flood = Otsu flood confirmed by NDEM; non-flood = away from any observed flood and the NDEM envelope</a:t>
            </a:r>
          </a:p>
          <a:p>
            <a:pPr>
              <a:spcAft>
                <a:spcPts val="300"/>
              </a:spcAft>
              <a:defRPr sz="1200" b="0">
                <a:solidFill>
                  <a:srgbClr val="595959"/>
                </a:solidFill>
                <a:latin typeface="Calibri"/>
              </a:defRPr>
            </a:pPr>
            <a:r>
              <a:t>–  no feature derived from Sentinel-1 → no label leakage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iit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164592"/>
            <a:ext cx="1964094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9326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1D1D1D"/>
                </a:solidFill>
                <a:latin typeface="Calibri"/>
              </a:defRPr>
            </a:pPr>
            <a:r>
              <a:t>Model Results —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9509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95959"/>
                </a:solidFill>
                <a:latin typeface="Calibri"/>
              </a:defRPr>
            </a:pPr>
            <a:r>
              <a:t>LightGBM baseline vs base 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6400800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95959"/>
                </a:solidFill>
                <a:latin typeface="Calibri"/>
              </a:defRPr>
            </a:pPr>
            <a:r>
              <a:t>Indian Institute of Information Technology Kottayam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38251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95959"/>
                </a:solidFill>
                <a:latin typeface="Calibri"/>
              </a:defRPr>
            </a:pPr>
            <a:r>
              <a:t>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0200"/>
          <a:ext cx="110642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1371600"/>
                <a:gridCol w="1371600"/>
                <a:gridCol w="1371600"/>
                <a:gridCol w="1371600"/>
                <a:gridCol w="1371600"/>
              </a:tblGrid>
              <a:tr h="50292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Evaluation</a:t>
                      </a:r>
                    </a:p>
                  </a:txBody>
                  <a:tcPr anchor="ctr" marL="73152" marR="73152">
                    <a:solidFill>
                      <a:srgbClr val="DAE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 anchor="ctr" marL="73152" marR="73152">
                    <a:solidFill>
                      <a:srgbClr val="DAE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 anchor="ctr" marL="73152" marR="73152">
                    <a:solidFill>
                      <a:srgbClr val="DAE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 anchor="ctr" marL="73152" marR="73152">
                    <a:solidFill>
                      <a:srgbClr val="DAE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F1</a:t>
                      </a:r>
                    </a:p>
                  </a:txBody>
                  <a:tcPr anchor="ctr" marL="73152" marR="73152">
                    <a:solidFill>
                      <a:srgbClr val="DAE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AUC</a:t>
                      </a:r>
                    </a:p>
                  </a:txBody>
                  <a:tcPr anchor="ctr" marL="73152" marR="73152">
                    <a:solidFill>
                      <a:srgbClr val="DAE3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Ours — random 70/30 split (plan method)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99.1%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98.5%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99.7%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99.1%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0.999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Ours — unseen 10 km regions (honest)</a:t>
                      </a:r>
                    </a:p>
                  </a:txBody>
                  <a:tcPr anchor="ctr" marL="73152" marR="73152">
                    <a:solidFill>
                      <a:srgbClr val="E3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88.5%</a:t>
                      </a:r>
                    </a:p>
                  </a:txBody>
                  <a:tcPr anchor="ctr" marL="73152" marR="73152">
                    <a:solidFill>
                      <a:srgbClr val="E3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95.2%</a:t>
                      </a:r>
                    </a:p>
                  </a:txBody>
                  <a:tcPr anchor="ctr" marL="73152" marR="73152">
                    <a:solidFill>
                      <a:srgbClr val="E3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78.5%</a:t>
                      </a:r>
                    </a:p>
                  </a:txBody>
                  <a:tcPr anchor="ctr" marL="73152" marR="73152">
                    <a:solidFill>
                      <a:srgbClr val="E3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84.5%</a:t>
                      </a:r>
                    </a:p>
                  </a:txBody>
                  <a:tcPr anchor="ctr" marL="73152" marR="73152">
                    <a:solidFill>
                      <a:srgbClr val="E3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0.979</a:t>
                      </a:r>
                    </a:p>
                  </a:txBody>
                  <a:tcPr anchor="ctr" marL="73152" marR="73152">
                    <a:solidFill>
                      <a:srgbClr val="E3F5E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Base paper — U-Net test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93.73%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94.07%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86.00%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89.85%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0.93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step9_model_evalu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763200"/>
            <a:ext cx="7498079" cy="253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01000" y="3749039"/>
            <a:ext cx="39319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0">
                <a:solidFill>
                  <a:srgbClr val="1D1D1D"/>
                </a:solidFill>
                <a:latin typeface="Calibri"/>
              </a:defRPr>
            </a:pPr>
            <a:r>
              <a:t>•  99 % looks too good — we checked why: 98.7% of flood test pixels sit next to a training pixel</a:t>
            </a:r>
          </a:p>
          <a:p>
            <a:pPr>
              <a:spcAft>
                <a:spcPts val="600"/>
              </a:spcAft>
              <a:defRPr sz="1350" b="0">
                <a:solidFill>
                  <a:srgbClr val="1D1D1D"/>
                </a:solidFill>
                <a:latin typeface="Calibri"/>
              </a:defRPr>
            </a:pPr>
            <a:r>
              <a:t>•  Not leakage: on whole regions never seen, accuracy is 88.5%</a:t>
            </a:r>
          </a:p>
          <a:p>
            <a:pPr>
              <a:spcAft>
                <a:spcPts val="600"/>
              </a:spcAft>
              <a:defRPr sz="1350" b="0">
                <a:solidFill>
                  <a:srgbClr val="1D1D1D"/>
                </a:solidFill>
                <a:latin typeface="Calibri"/>
              </a:defRPr>
            </a:pPr>
            <a:r>
              <a:t>•  Hard case (flat floodplain only): AUC 0.935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iit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164592"/>
            <a:ext cx="1964094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9326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1D1D1D"/>
                </a:solidFill>
                <a:latin typeface="Calibri"/>
              </a:defRPr>
            </a:pPr>
            <a:r>
              <a:t>What Drives the Model?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9509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95959"/>
                </a:solidFill>
                <a:latin typeface="Calibri"/>
              </a:defRPr>
            </a:pPr>
            <a:r>
              <a:t>Feature importance and an input ablation like base-paper Table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6400800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95959"/>
                </a:solidFill>
                <a:latin typeface="Calibri"/>
              </a:defRPr>
            </a:pPr>
            <a:r>
              <a:t>Indian Institute of Information Technology Kottayam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38251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95959"/>
                </a:solidFill>
                <a:latin typeface="Calibri"/>
              </a:defRPr>
            </a:pPr>
            <a:r>
              <a:t>9</a:t>
            </a:r>
          </a:p>
        </p:txBody>
      </p:sp>
      <p:pic>
        <p:nvPicPr>
          <p:cNvPr id="7" name="Picture 6" descr="step9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568312"/>
            <a:ext cx="7498079" cy="3081296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4800600"/>
          <a:ext cx="722376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103120"/>
                <a:gridCol w="2103120"/>
              </a:tblGrid>
              <a:tr h="301752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Inputs</a:t>
                      </a:r>
                    </a:p>
                  </a:txBody>
                  <a:tcPr anchor="ctr" marL="73152" marR="73152">
                    <a:solidFill>
                      <a:srgbClr val="DAE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Random-split acc.</a:t>
                      </a:r>
                    </a:p>
                  </a:txBody>
                  <a:tcPr anchor="ctr" marL="73152" marR="73152">
                    <a:solidFill>
                      <a:srgbClr val="DAE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Unseen-region acc.</a:t>
                      </a:r>
                    </a:p>
                  </a:txBody>
                  <a:tcPr anchor="ctr" marL="73152" marR="73152">
                    <a:solidFill>
                      <a:srgbClr val="DAE3E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All 11 features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99.1%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88.5%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Without terrain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98.1%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78.9%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Without rainfall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98.2%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89.7%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Rainfall only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73.9%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55.1%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001000" y="155448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0">
                <a:solidFill>
                  <a:srgbClr val="1D1D1D"/>
                </a:solidFill>
                <a:latin typeface="Calibri"/>
              </a:defRPr>
            </a:pPr>
            <a:r>
              <a:t>•  Elevation dominates (42 % of gain), then TWI, distance to road, rainfall, distance to major river</a:t>
            </a:r>
          </a:p>
          <a:p>
            <a:pPr>
              <a:spcAft>
                <a:spcPts val="600"/>
              </a:spcAft>
              <a:defRPr sz="1350" b="0">
                <a:solidFill>
                  <a:srgbClr val="1D1D1D"/>
                </a:solidFill>
                <a:latin typeface="Calibri"/>
              </a:defRPr>
            </a:pPr>
            <a:r>
              <a:t>•  Base-paper Table 4 is an input ablation (slope, soil, imperviousness, rainfall), not a ranking — so we ran the same</a:t>
            </a:r>
          </a:p>
          <a:p>
            <a:pPr>
              <a:spcAft>
                <a:spcPts val="300"/>
              </a:spcAft>
              <a:defRPr sz="1150" b="0">
                <a:solidFill>
                  <a:srgbClr val="595959"/>
                </a:solidFill>
                <a:latin typeface="Calibri"/>
              </a:defRPr>
            </a:pPr>
            <a:r>
              <a:t>–  agrees: more inputs help; rainfall alone is weakest</a:t>
            </a:r>
          </a:p>
          <a:p>
            <a:pPr>
              <a:spcAft>
                <a:spcPts val="300"/>
              </a:spcAft>
              <a:defRPr sz="1150" b="0">
                <a:solidFill>
                  <a:srgbClr val="595959"/>
                </a:solidFill>
                <a:latin typeface="Calibri"/>
              </a:defRPr>
            </a:pPr>
            <a:r>
              <a:t>–  rainfall only works as a location label: 55.1% on unseen regions ≈ chance</a:t>
            </a:r>
          </a:p>
          <a:p>
            <a:pPr>
              <a:spcAft>
                <a:spcPts val="600"/>
              </a:spcAft>
              <a:defRPr sz="1350" b="0">
                <a:solidFill>
                  <a:srgbClr val="1D1D1D"/>
                </a:solidFill>
                <a:latin typeface="Calibri"/>
              </a:defRPr>
            </a:pPr>
            <a:r>
              <a:t>•  Imperviousness (base paper's key input) has no counterpart yet → Phase 2 UICA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iit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164592"/>
            <a:ext cx="1964094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9326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1D1D1D"/>
                </a:solidFill>
                <a:latin typeface="Calibri"/>
              </a:defRPr>
            </a:pPr>
            <a:r>
              <a:t>Flood Susceptibility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9509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95959"/>
                </a:solidFill>
                <a:latin typeface="Calibri"/>
              </a:defRPr>
            </a:pPr>
            <a:r>
              <a:t>Model applied to all 1.64 million land pixels · 5 quantile classes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6400800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95959"/>
                </a:solidFill>
                <a:latin typeface="Calibri"/>
              </a:defRPr>
            </a:pPr>
            <a:r>
              <a:t>Indian Institute of Information Technology Kottayam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38251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95959"/>
                </a:solidFill>
                <a:latin typeface="Calibri"/>
              </a:defRPr>
            </a:pPr>
            <a:r>
              <a:t>10</a:t>
            </a:r>
          </a:p>
        </p:txBody>
      </p:sp>
      <p:pic>
        <p:nvPicPr>
          <p:cNvPr id="7" name="Picture 6" descr="step10_susceptibility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980" y="1417320"/>
            <a:ext cx="5452040" cy="4983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20840" y="155448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50" b="0">
                <a:solidFill>
                  <a:srgbClr val="1D1D1D"/>
                </a:solidFill>
                <a:latin typeface="Calibri"/>
              </a:defRPr>
            </a:pPr>
            <a:r>
              <a:t>•  Tested on a flood the model never saw — Aug 2019 (NDEM):</a:t>
            </a:r>
          </a:p>
          <a:p>
            <a:pPr>
              <a:spcAft>
                <a:spcPts val="300"/>
              </a:spcAft>
              <a:defRPr sz="1250" b="1">
                <a:solidFill>
                  <a:srgbClr val="595959"/>
                </a:solidFill>
                <a:latin typeface="Calibri"/>
              </a:defRPr>
            </a:pPr>
            <a:r>
              <a:t>–  83.8% of the 2019 flood falls in High / Very High (40 % of land)</a:t>
            </a:r>
          </a:p>
          <a:p>
            <a:pPr>
              <a:spcAft>
                <a:spcPts val="300"/>
              </a:spcAft>
              <a:defRPr sz="1250" b="0">
                <a:solidFill>
                  <a:srgbClr val="595959"/>
                </a:solidFill>
                <a:latin typeface="Calibri"/>
              </a:defRPr>
            </a:pPr>
            <a:r>
              <a:t>–  Very High class holds 3.5× its area share; AUC 0.83</a:t>
            </a:r>
          </a:p>
          <a:p>
            <a:pPr>
              <a:spcAft>
                <a:spcPts val="300"/>
              </a:spcAft>
              <a:defRPr sz="1250" b="0">
                <a:solidFill>
                  <a:srgbClr val="595959"/>
                </a:solidFill>
                <a:latin typeface="Calibri"/>
              </a:defRPr>
            </a:pPr>
            <a:r>
              <a:t>–  even where 2018 did not flood: AUC 0.78</a:t>
            </a:r>
          </a:p>
          <a:p>
            <a:pPr>
              <a:spcAft>
                <a:spcPts val="600"/>
              </a:spcAft>
              <a:defRPr sz="1450" b="0">
                <a:solidFill>
                  <a:srgbClr val="1D1D1D"/>
                </a:solidFill>
                <a:latin typeface="Calibri"/>
              </a:defRPr>
            </a:pPr>
            <a:r>
              <a:t>•  High susceptibility follows the Periyar floodplain, valleys and low coastal land</a:t>
            </a:r>
          </a:p>
          <a:p>
            <a:pPr>
              <a:spcAft>
                <a:spcPts val="600"/>
              </a:spcAft>
              <a:defRPr sz="1450" b="0">
                <a:solidFill>
                  <a:srgbClr val="1D1D1D"/>
                </a:solidFill>
                <a:latin typeface="Calibri"/>
              </a:defRPr>
            </a:pPr>
            <a:r>
              <a:t>•  Scores are a relative index (balanced training), not flood probabilities</a:t>
            </a:r>
          </a:p>
          <a:p>
            <a:pPr>
              <a:spcAft>
                <a:spcPts val="300"/>
              </a:spcAft>
              <a:defRPr sz="1250" b="0">
                <a:solidFill>
                  <a:srgbClr val="595959"/>
                </a:solidFill>
                <a:latin typeface="Calibri"/>
              </a:defRPr>
            </a:pPr>
            <a:r>
              <a:t>–  only Very High is strongly predictive; High is near chance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iit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164592"/>
            <a:ext cx="1964094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9326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1D1D1D"/>
                </a:solidFill>
                <a:latin typeface="Calibri"/>
              </a:defRPr>
            </a:pPr>
            <a:r>
              <a:t>Finding: Coarse Rainfall Acts as a Location 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9509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95959"/>
                </a:solidFill>
                <a:latin typeface="Calibri"/>
              </a:defRPr>
            </a:pPr>
            <a:r>
              <a:t>Same model with and without CHIRPS rainfall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6400800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95959"/>
                </a:solidFill>
                <a:latin typeface="Calibri"/>
              </a:defRPr>
            </a:pPr>
            <a:r>
              <a:t>Indian Institute of Information Technology Kottayam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38251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95959"/>
                </a:solidFill>
                <a:latin typeface="Calibri"/>
              </a:defRPr>
            </a:pPr>
            <a:r>
              <a:t>11</a:t>
            </a:r>
          </a:p>
        </p:txBody>
      </p:sp>
      <p:pic>
        <p:nvPicPr>
          <p:cNvPr id="7" name="Picture 6" descr="step10_susceptibility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2408" y="1508760"/>
            <a:ext cx="9476703" cy="356616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5120640"/>
          <a:ext cx="6766560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737360"/>
                <a:gridCol w="1737360"/>
              </a:tblGrid>
              <a:tr h="31089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</a:p>
                  </a:txBody>
                  <a:tcPr anchor="ctr" marL="73152" marR="73152">
                    <a:solidFill>
                      <a:srgbClr val="DAE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With rainfall</a:t>
                      </a:r>
                    </a:p>
                  </a:txBody>
                  <a:tcPr anchor="ctr" marL="73152" marR="73152">
                    <a:solidFill>
                      <a:srgbClr val="DAE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Without rainfall</a:t>
                      </a:r>
                    </a:p>
                  </a:txBody>
                  <a:tcPr anchor="ctr" marL="73152" marR="73152">
                    <a:solidFill>
                      <a:srgbClr val="DAE3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2019 flood AUC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0.83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0.80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Land &gt; 50 m rated High / Very High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23.4%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13.4%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Unseen-region accuracy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88.5%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89.7%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589520" y="5120640"/>
            <a:ext cx="4297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0">
                <a:solidFill>
                  <a:srgbClr val="1D1D1D"/>
                </a:solidFill>
                <a:latin typeface="Calibri"/>
              </a:defRPr>
            </a:pPr>
            <a:r>
              <a:t>•  5.5 km CHIRPS cells imprint rectangles on the hills (panel a, top right)</a:t>
            </a:r>
          </a:p>
          <a:p>
            <a:pPr>
              <a:spcAft>
                <a:spcPts val="600"/>
              </a:spcAft>
              <a:defRPr sz="1350" b="0">
                <a:solidFill>
                  <a:srgbClr val="1D1D1D"/>
                </a:solidFill>
                <a:latin typeface="Calibri"/>
              </a:defRPr>
            </a:pPr>
            <a:r>
              <a:t>•  Phase 2: event rainfall at higher resolution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iit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164592"/>
            <a:ext cx="1964094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9326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1D1D1D"/>
                </a:solidFill>
                <a:latin typeface="Calibri"/>
              </a:defRPr>
            </a:pPr>
            <a:r>
              <a:t>Known Limitations → Phase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9509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95959"/>
                </a:solidFill>
                <a:latin typeface="Calibri"/>
              </a:defRPr>
            </a:pPr>
            <a:r>
              <a:t>Stated deliberately: where Phase 1 ends and our contribution begins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6400800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95959"/>
                </a:solidFill>
                <a:latin typeface="Calibri"/>
              </a:defRPr>
            </a:pPr>
            <a:r>
              <a:t>Indian Institute of Information Technology Kottayam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38251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95959"/>
                </a:solidFill>
                <a:latin typeface="Calibri"/>
              </a:defRPr>
            </a:pPr>
            <a:r>
              <a:t>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0200"/>
          <a:ext cx="11064239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114800"/>
                <a:gridCol w="3749039"/>
              </a:tblGrid>
              <a:tr h="51206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Phase 1 limitation</a:t>
                      </a:r>
                    </a:p>
                  </a:txBody>
                  <a:tcPr anchor="ctr" marL="73152" marR="73152">
                    <a:solidFill>
                      <a:srgbClr val="DAE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Measured effect</a:t>
                      </a:r>
                    </a:p>
                  </a:txBody>
                  <a:tcPr anchor="ctr" marL="73152" marR="73152">
                    <a:solidFill>
                      <a:srgbClr val="DAE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Phase 2 remedy</a:t>
                      </a:r>
                    </a:p>
                  </a:txBody>
                  <a:tcPr anchor="ctr" marL="73152" marR="73152">
                    <a:solidFill>
                      <a:srgbClr val="DAE3E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Random 70/30 split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99.1% vs 88.5% on unseen regions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Spatial block CV + temporal hold-out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Non-flood = 'not seen flooded'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Urban floods invisible to SAR count as dry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Positive-Unlabelled learning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No land-use / imperviousness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Model is development-blind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UICA / ΔUICA features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One post-peak flood event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Residual extent only (23.5 of 75 km²)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Multi-event, multi-orbit inventory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LightGBM, pixel-based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No spatial context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Revisit U-Net on larger inventory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Coarse rainfall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Location proxy, map artifact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Event rainfall, higher resolution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Current conditions only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No development scenarios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Dual current vs post-development prediction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iit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164592"/>
            <a:ext cx="1964094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9326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1D1D1D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400800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95959"/>
                </a:solidFill>
                <a:latin typeface="Calibri"/>
              </a:defRPr>
            </a:pPr>
            <a:r>
              <a:t>Indian Institute of Information Technology Kottayam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38251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95959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1D1D1D"/>
                </a:solidFill>
                <a:latin typeface="Calibri"/>
              </a:defRPr>
            </a:pPr>
            <a:r>
              <a:t>•  Phase 1 complete: satellite → flood inventory → features → model → susceptibility map → metrics, reproduced end to end on the Periyar basin</a:t>
            </a:r>
          </a:p>
          <a:p>
            <a:pPr>
              <a:spcAft>
                <a:spcPts val="600"/>
              </a:spcAft>
              <a:defRPr sz="1900" b="0">
                <a:solidFill>
                  <a:srgbClr val="1D1D1D"/>
                </a:solidFill>
                <a:latin typeface="Calibri"/>
              </a:defRPr>
            </a:pPr>
            <a:r>
              <a:t>•  Flood inventory verified against official NDEM maps (GTI 58.4 %, 4.4× chance)</a:t>
            </a:r>
          </a:p>
          <a:p>
            <a:pPr>
              <a:spcAft>
                <a:spcPts val="600"/>
              </a:spcAft>
              <a:defRPr sz="1900" b="0">
                <a:solidFill>
                  <a:srgbClr val="1D1D1D"/>
                </a:solidFill>
                <a:latin typeface="Calibri"/>
              </a:defRPr>
            </a:pPr>
            <a:r>
              <a:t>•  Baseline model: 99.1% on the reference-paper split, 88.5% on unseen regions (base paper 93.73 %)</a:t>
            </a:r>
          </a:p>
          <a:p>
            <a:pPr>
              <a:spcAft>
                <a:spcPts val="600"/>
              </a:spcAft>
              <a:defRPr sz="1900" b="0">
                <a:solidFill>
                  <a:srgbClr val="1D1D1D"/>
                </a:solidFill>
                <a:latin typeface="Calibri"/>
              </a:defRPr>
            </a:pPr>
            <a:r>
              <a:t>•  Susceptibility map predicts an unseen flood: 83.8% of 2019 flood in High / Very High</a:t>
            </a:r>
          </a:p>
          <a:p>
            <a:pPr>
              <a:spcAft>
                <a:spcPts val="600"/>
              </a:spcAft>
              <a:defRPr sz="1900" b="0">
                <a:solidFill>
                  <a:srgbClr val="1D1D1D"/>
                </a:solidFill>
                <a:latin typeface="Calibri"/>
              </a:defRPr>
            </a:pPr>
            <a:r>
              <a:t>•  Every step documented, verified and version-controlled</a:t>
            </a:r>
          </a:p>
          <a:p>
            <a:pPr>
              <a:spcAft>
                <a:spcPts val="600"/>
              </a:spcAft>
              <a:defRPr sz="1900" b="0">
                <a:solidFill>
                  <a:srgbClr val="1D1D1D"/>
                </a:solidFill>
                <a:latin typeface="Calibri"/>
              </a:defRPr>
            </a:pPr>
            <a:r>
              <a:t>•  Next (Phase 2): UICA / ΔUICA · PU-learning · spatial CV · multi-event inventory · current vs post-development prediction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iit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164592"/>
            <a:ext cx="1964094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9326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1D1D1D"/>
                </a:solidFill>
                <a:latin typeface="Calibri"/>
              </a:defRPr>
            </a:pPr>
            <a:r>
              <a:t>Anticipated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9509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95959"/>
                </a:solidFill>
                <a:latin typeface="Calibri"/>
              </a:defRPr>
            </a:pPr>
            <a:r>
              <a:t>Backup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6400800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95959"/>
                </a:solidFill>
                <a:latin typeface="Calibri"/>
              </a:defRPr>
            </a:pPr>
            <a:r>
              <a:t>Indian Institute of Information Technology Kottayam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38251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95959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600" b="1">
                <a:solidFill>
                  <a:srgbClr val="1F5F99"/>
                </a:solidFill>
                <a:latin typeface="Calibri"/>
              </a:defRPr>
            </a:pPr>
            <a:r>
              <a:t>Q: Why LightGBM and not U-Net?</a:t>
            </a:r>
          </a:p>
          <a:p>
            <a:pPr>
              <a:defRPr sz="1450">
                <a:solidFill>
                  <a:srgbClr val="1D1D1D"/>
                </a:solidFill>
                <a:latin typeface="Calibri"/>
              </a:defRPr>
            </a:pPr>
            <a:r>
              <a:t>A: No labelled image set; CNN pipeline would take the whole timeline. LightGBM = full verified chain; U-Net revisited in Phase 2.</a:t>
            </a:r>
          </a:p>
          <a:p>
            <a:pPr>
              <a:spcBef>
                <a:spcPts val="1000"/>
              </a:spcBef>
              <a:defRPr sz="1600" b="1">
                <a:solidFill>
                  <a:srgbClr val="1F5F99"/>
                </a:solidFill>
                <a:latin typeface="Calibri"/>
              </a:defRPr>
            </a:pPr>
            <a:r>
              <a:t>Q: How do you know the flood map is correct?</a:t>
            </a:r>
          </a:p>
          <a:p>
            <a:pPr>
              <a:defRPr sz="1450">
                <a:solidFill>
                  <a:srgbClr val="1D1D1D"/>
                </a:solidFill>
                <a:latin typeface="Calibri"/>
              </a:defRPr>
            </a:pPr>
            <a:r>
              <a:t>A: 58.4 % confirmed by official NDEM maps (4.4× chance); 83.8% of the unseen 2019 flood in our top classes.</a:t>
            </a:r>
          </a:p>
          <a:p>
            <a:pPr>
              <a:spcBef>
                <a:spcPts val="1000"/>
              </a:spcBef>
              <a:defRPr sz="1600" b="1">
                <a:solidFill>
                  <a:srgbClr val="1F5F99"/>
                </a:solidFill>
                <a:latin typeface="Calibri"/>
              </a:defRPr>
            </a:pPr>
            <a:r>
              <a:t>Q: Is 99 % accuracy real or overfitting?</a:t>
            </a:r>
          </a:p>
          <a:p>
            <a:pPr>
              <a:defRPr sz="1450">
                <a:solidFill>
                  <a:srgbClr val="1D1D1D"/>
                </a:solidFill>
                <a:latin typeface="Calibri"/>
              </a:defRPr>
            </a:pPr>
            <a:r>
              <a:t>A: Random-split optimism from neighbouring pixels. On unseen regions: 88.5%. Spatial CV becomes the Phase 2 standard.</a:t>
            </a:r>
          </a:p>
          <a:p>
            <a:pPr>
              <a:spcBef>
                <a:spcPts val="1000"/>
              </a:spcBef>
              <a:defRPr sz="1600" b="1">
                <a:solidFill>
                  <a:srgbClr val="1F5F99"/>
                </a:solidFill>
                <a:latin typeface="Calibri"/>
              </a:defRPr>
            </a:pPr>
            <a:r>
              <a:t>Q: Why is your GTI lower than 84 %?</a:t>
            </a:r>
          </a:p>
          <a:p>
            <a:pPr>
              <a:defRPr sz="1450">
                <a:solidFill>
                  <a:srgbClr val="1D1D1D"/>
                </a:solidFill>
                <a:latin typeface="Calibri"/>
              </a:defRPr>
            </a:pPr>
            <a:r>
              <a:t>A: Only scene is 4–6 days after the peak; disagreement is on water edges (74 % away from them).</a:t>
            </a:r>
          </a:p>
          <a:p>
            <a:pPr>
              <a:spcBef>
                <a:spcPts val="1000"/>
              </a:spcBef>
              <a:defRPr sz="1600" b="1">
                <a:solidFill>
                  <a:srgbClr val="1F5F99"/>
                </a:solidFill>
                <a:latin typeface="Calibri"/>
              </a:defRPr>
            </a:pPr>
            <a:r>
              <a:t>Q: What is left to do?</a:t>
            </a:r>
          </a:p>
          <a:p>
            <a:pPr>
              <a:defRPr sz="1450">
                <a:solidFill>
                  <a:srgbClr val="1D1D1D"/>
                </a:solidFill>
                <a:latin typeface="Calibri"/>
              </a:defRPr>
            </a:pPr>
            <a:r>
              <a:t>A: UICA / ΔUICA, PU-learning, spatial CV, more flood events, dual prediction, SHAP.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iit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164592"/>
            <a:ext cx="1964094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9326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1D1D1D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400800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95959"/>
                </a:solidFill>
                <a:latin typeface="Calibri"/>
              </a:defRPr>
            </a:pPr>
            <a:r>
              <a:t>Indian Institute of Information Technology Kottayam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38251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95959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D1D1D"/>
                </a:solidFill>
                <a:latin typeface="Calibri"/>
              </a:defRPr>
            </a:pPr>
            <a:r>
              <a:t>[1] N. Mohamadiazar, A. Ebrahimian, H. Hosseiny, "Integrating deep learning, satellite image processing, and spatial-temporal analysis for urban flood prediction," J. Hydrology, vol. 639, 131508, 2024.</a:t>
            </a:r>
          </a:p>
          <a:p>
            <a:pPr>
              <a:spcAft>
                <a:spcPts val="600"/>
              </a:spcAft>
              <a:defRPr sz="1300">
                <a:solidFill>
                  <a:srgbClr val="1D1D1D"/>
                </a:solidFill>
                <a:latin typeface="Calibri"/>
              </a:defRPr>
            </a:pPr>
            <a:r>
              <a:t>[2] L. Hawker et al., "A 30 m global map of elevation with forests and buildings removed (FABDEM)," Environ. Res. Lett., vol. 17, 024016, 2022.</a:t>
            </a:r>
          </a:p>
          <a:p>
            <a:pPr>
              <a:spcAft>
                <a:spcPts val="600"/>
              </a:spcAft>
              <a:defRPr sz="1300">
                <a:solidFill>
                  <a:srgbClr val="1D1D1D"/>
                </a:solidFill>
                <a:latin typeface="Calibri"/>
              </a:defRPr>
            </a:pPr>
            <a:r>
              <a:t>[3] C. Funk et al., "The climate hazards infrared precipitation with stations (CHIRPS)," Sci. Data, vol. 2, 150066, 2015.</a:t>
            </a:r>
          </a:p>
          <a:p>
            <a:pPr>
              <a:spcAft>
                <a:spcPts val="600"/>
              </a:spcAft>
              <a:defRPr sz="1300">
                <a:solidFill>
                  <a:srgbClr val="1D1D1D"/>
                </a:solidFill>
                <a:latin typeface="Calibri"/>
              </a:defRPr>
            </a:pPr>
            <a:r>
              <a:t>[4] B. Lehner, G. Grill, "Global river hydrography and network routing (HydroSHEDS)," Hydrol. Process., vol. 27, 2013.</a:t>
            </a:r>
          </a:p>
          <a:p>
            <a:pPr>
              <a:spcAft>
                <a:spcPts val="600"/>
              </a:spcAft>
              <a:defRPr sz="1300">
                <a:solidFill>
                  <a:srgbClr val="1D1D1D"/>
                </a:solidFill>
                <a:latin typeface="Calibri"/>
              </a:defRPr>
            </a:pPr>
            <a:r>
              <a:t>[5] N. Otsu, "A threshold selection method from gray-level histograms," IEEE Trans. SMC, vol. 9, 1979.</a:t>
            </a:r>
          </a:p>
          <a:p>
            <a:pPr>
              <a:spcAft>
                <a:spcPts val="600"/>
              </a:spcAft>
              <a:defRPr sz="1300">
                <a:solidFill>
                  <a:srgbClr val="1D1D1D"/>
                </a:solidFill>
                <a:latin typeface="Calibri"/>
              </a:defRPr>
            </a:pPr>
            <a:r>
              <a:t>[6] R. Barnes, C. Lehman, D. Mulla, "Priority-flood: an optimal depression-filling and watershed-labeling algorithm," Comput. Geosci., vol. 62, 2014.</a:t>
            </a:r>
          </a:p>
          <a:p>
            <a:pPr>
              <a:spcAft>
                <a:spcPts val="600"/>
              </a:spcAft>
              <a:defRPr sz="1300">
                <a:solidFill>
                  <a:srgbClr val="1D1D1D"/>
                </a:solidFill>
                <a:latin typeface="Calibri"/>
              </a:defRPr>
            </a:pPr>
            <a:r>
              <a:t>[7] P. Quinn et al., "The prediction of hillslope flow paths for distributed hydrological modelling using digital terrain models," Hydrol. Process., vol. 5, 1991.</a:t>
            </a:r>
          </a:p>
          <a:p>
            <a:pPr>
              <a:spcAft>
                <a:spcPts val="600"/>
              </a:spcAft>
              <a:defRPr sz="1300">
                <a:solidFill>
                  <a:srgbClr val="1D1D1D"/>
                </a:solidFill>
                <a:latin typeface="Calibri"/>
              </a:defRPr>
            </a:pPr>
            <a:r>
              <a:t>[8] G. Ke et al., "LightGBM: a highly efficient gradient boosting decision tree," NeurIPS, 2017.</a:t>
            </a:r>
          </a:p>
          <a:p>
            <a:pPr>
              <a:spcAft>
                <a:spcPts val="600"/>
              </a:spcAft>
              <a:defRPr sz="1300">
                <a:solidFill>
                  <a:srgbClr val="1D1D1D"/>
                </a:solidFill>
                <a:latin typeface="Calibri"/>
              </a:defRPr>
            </a:pPr>
            <a:r>
              <a:t>[9] NRSC/ISRO, National Database for Emergency Management (NDEM), Kerala flood inundation layers, 2018–2021.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